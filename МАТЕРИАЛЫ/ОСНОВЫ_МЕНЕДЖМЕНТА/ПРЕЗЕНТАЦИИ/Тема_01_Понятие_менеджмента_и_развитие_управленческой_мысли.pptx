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D9A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9A42A"/>
                </a:solidFill>
                <a:latin typeface="Calibri"/>
              </a:defRPr>
            </a:pPr>
            <a:r>
              <a:t>RUFLO УРОК  ·  Дисциплина «Основы менеджмента»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alibri"/>
              </a:defRPr>
            </a:pPr>
            <a:r>
              <a:t>Тема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Понятие менеджмента, его сущность и развитие управленческой мысли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F3F4"/>
                </a:solidFill>
                <a:latin typeface="Calibri"/>
              </a:defRPr>
            </a:pPr>
            <a:r>
              <a:t>1 курс · 1 семестр · 3 кредита · Международный Кувейтский Университет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E6F3F4"/>
                </a:solidFill>
                <a:latin typeface="Calibri"/>
              </a:defRPr>
            </a:pPr>
            <a:r>
              <a:t>Источник: Силлабус «Основы менеджмента», МКУ, 2025-2026 (тематический план, п.1)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9A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F3F4"/>
                </a:solidFill>
                <a:latin typeface="Calibri"/>
              </a:defRPr>
            </a:pPr>
            <a:r>
              <a:t>Введение в тему</a:t>
            </a:r>
          </a:p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Цель и план 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Цель: раскрыть понятие менеджмента, его отличие от общего понятия «управление» и показать основные этапы становления менеджмента как науки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Лекция — 2 часа, практическое занятие — 2 часа (Тема 1 из 12 тем курса)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План: 1) организации и необходимость управления; 2) менеджмент — общая характеристика; 3) этапы становления современного менеджмента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B4F5C"/>
                </a:solidFill>
                <a:latin typeface="Calibri"/>
              </a:defRPr>
            </a:pPr>
            <a:r>
              <a:t>Источник: Силлабус «Основы менеджмента», МКУ, 2025-2026 (тематический план, п.1)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3"/>
                </a:solidFill>
                <a:latin typeface="Calibri"/>
              </a:defRPr>
            </a:pPr>
            <a:r>
              <a:t>RUFLO УРОК · Основы менеджмента · Тема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6063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9A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F3F4"/>
                </a:solidFill>
                <a:latin typeface="Calibri"/>
              </a:defRPr>
            </a:pPr>
            <a:r>
              <a:t>Понятие 1</a:t>
            </a:r>
          </a:p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Организации и необходимость управления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Организации стары как мир: уже в древности крупные задачи требовали координации множества исполнителей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Первая и самая мощная организация, созданная человеком, — государство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Виды организаций: добровольные (религиозные, клубы), принудительные (армия, школа), утилитарные (предприятия, учреждения)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Создание письменности древними шумерами (ок. 3000 лет до н.э.) впервые позволило регистрировать факты — необходимое условие управления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B4F5C"/>
                </a:solidFill>
                <a:latin typeface="Calibri"/>
              </a:defRPr>
            </a:pPr>
            <a:r>
              <a:t>Источник: Чуйкин А.М. Основы менеджмента. Калининград, 1996, с.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3"/>
                </a:solidFill>
                <a:latin typeface="Calibri"/>
              </a:defRPr>
            </a:pPr>
            <a:r>
              <a:t>RUFLO УРОК · Основы менеджмента · Тема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6063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9A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F3F4"/>
                </a:solidFill>
                <a:latin typeface="Calibri"/>
              </a:defRPr>
            </a:pPr>
            <a:r>
              <a:t>Понятие 1 (продолжение)</a:t>
            </a:r>
          </a:p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Управление в истории цивилизаций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Древние египтяне и китайцы реально осуществляли функции управления: планирование, организацию, мотивацию, учёт, контроль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Строительство пирамид, каналов и защитных сооружений требовало делегирования полномочий и централизации/децентрализации управления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Древние греки (Сократ, Ксенофонт, Платон, Аристотель) сформулировали принцип универсальности управления — рассматривали его как особый вид искусства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Развитие торговли и мануфактур в Венеции, Генуе, Голландии потребовало систем бухучёта и контроля запасов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B4F5C"/>
                </a:solidFill>
                <a:latin typeface="Calibri"/>
              </a:defRPr>
            </a:pPr>
            <a:r>
              <a:t>Источник: Чуйкин А.М. Основы менеджмента. Калининград, 1996, с. 6-7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3"/>
                </a:solidFill>
                <a:latin typeface="Calibri"/>
              </a:defRPr>
            </a:pPr>
            <a:r>
              <a:t>RUFLO УРОК · Основы менеджмента · Тема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6063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9A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F3F4"/>
                </a:solidFill>
                <a:latin typeface="Calibri"/>
              </a:defRPr>
            </a:pPr>
            <a:r>
              <a:t>Понятие 2</a:t>
            </a:r>
          </a:p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Менеджмент: общая характеристика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Менеджмент — это вид деятельности по руководству людьми в организации, особый вид управления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«Управление» — понятие шире менеджмента: относится к любым сферам, объектам и субъектам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Менеджмент — управление именно в открытой рыночной экономике; объект управления — экономически самостоятельная организация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Менеджмент — персонифицированное управление, неотделимое от менеджеров-профессионалов (специальное образование, должность, умение добиваться целей через людей)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B4F5C"/>
                </a:solidFill>
                <a:latin typeface="Calibri"/>
              </a:defRPr>
            </a:pPr>
            <a:r>
              <a:t>Источник: Чуйкин А.М. Основы менеджмента. Калининград, 1996, с. 8-9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3"/>
                </a:solidFill>
                <a:latin typeface="Calibri"/>
              </a:defRPr>
            </a:pPr>
            <a:r>
              <a:t>RUFLO УРОК · Основы менеджмента · Тема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6063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9A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F3F4"/>
                </a:solidFill>
                <a:latin typeface="Calibri"/>
              </a:defRPr>
            </a:pPr>
            <a:r>
              <a:t>Понятие 3</a:t>
            </a:r>
          </a:p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Менеджмент — наука и искусство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Менеджмент — наука и искусство управления людьми и ресурсами организации для достижения целей с наибольшей эффективностью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Совокупность принципов, методов и приёмов координации и мотивации персонала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Главная миссия менеджмента — согласовать цели организации и интересы её сотрудников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B4F5C"/>
                </a:solidFill>
                <a:latin typeface="Calibri"/>
              </a:defRPr>
            </a:pPr>
            <a:r>
              <a:t>Источник: Лекция 1 «Введение в менеджмент», Сапаралиев Т.Н., дисциплина «Менеджмент», РУФЛО УРОК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3"/>
                </a:solidFill>
                <a:latin typeface="Calibri"/>
              </a:defRPr>
            </a:pPr>
            <a:r>
              <a:t>RUFLO УРОК · Основы менеджмента · Тема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6063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9A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F3F4"/>
                </a:solidFill>
                <a:latin typeface="Calibri"/>
              </a:defRPr>
            </a:pPr>
            <a:r>
              <a:t>Развитие управленческой мысли</a:t>
            </a:r>
          </a:p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Этапы становления современного менеджмента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04088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Этап / период</a:t>
                      </a:r>
                    </a:p>
                  </a:txBody>
                  <a:tcPr anchor="ctr">
                    <a:solidFill>
                      <a:srgbClr val="147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Что происходило</a:t>
                      </a:r>
                    </a:p>
                  </a:txBody>
                  <a:tcPr anchor="ctr">
                    <a:solidFill>
                      <a:srgbClr val="147A8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22B2E"/>
                          </a:solidFill>
                          <a:latin typeface="Calibri"/>
                        </a:defRPr>
                      </a:pPr>
                      <a:r>
                        <a:t>Древний мир (Египет, Китай, Греция)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22B2E"/>
                          </a:solidFill>
                          <a:latin typeface="Calibri"/>
                        </a:defRPr>
                      </a:pPr>
                      <a:r>
                        <a:t>Первые функции управления: планирование, учёт, контроль; принцип универсальности управления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22B2E"/>
                          </a:solidFill>
                          <a:latin typeface="Calibri"/>
                        </a:defRPr>
                      </a:pPr>
                      <a:r>
                        <a:t>XVI-XVII вв.</a:t>
                      </a:r>
                    </a:p>
                  </a:txBody>
                  <a:tcPr anchor="ctr">
                    <a:solidFill>
                      <a:srgbClr val="E6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22B2E"/>
                          </a:solidFill>
                          <a:latin typeface="Calibri"/>
                        </a:defRPr>
                      </a:pPr>
                      <a:r>
                        <a:t>Р. Оуэн, Д. Милль — значимость мотивации; А. Смит — теория стоимости и специализации; Н. Макиавелли, Д. Стюарт — теория власти</a:t>
                      </a:r>
                    </a:p>
                  </a:txBody>
                  <a:tcPr anchor="ctr">
                    <a:solidFill>
                      <a:srgbClr val="E6F3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22B2E"/>
                          </a:solidFill>
                          <a:latin typeface="Calibri"/>
                        </a:defRPr>
                      </a:pPr>
                      <a:r>
                        <a:t>Рубеж XIX-XX вв.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22B2E"/>
                          </a:solidFill>
                          <a:latin typeface="Calibri"/>
                        </a:defRPr>
                      </a:pPr>
                      <a:r>
                        <a:t>Ф. Тейлор — «научный менеджмент»; классическая школа: принципы научной организации труда, планирования и контроля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22B2E"/>
                          </a:solidFill>
                          <a:latin typeface="Calibri"/>
                        </a:defRPr>
                      </a:pPr>
                      <a:r>
                        <a:t>XX век</a:t>
                      </a:r>
                    </a:p>
                  </a:txBody>
                  <a:tcPr anchor="ctr">
                    <a:solidFill>
                      <a:srgbClr val="E6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22B2E"/>
                          </a:solidFill>
                          <a:latin typeface="Calibri"/>
                        </a:defRPr>
                      </a:pPr>
                      <a:r>
                        <a:t>Поведенческая и системная школы — внимание к мотивации и человеческому фактору</a:t>
                      </a:r>
                    </a:p>
                  </a:txBody>
                  <a:tcPr anchor="ctr">
                    <a:solidFill>
                      <a:srgbClr val="E6F3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22B2E"/>
                          </a:solidFill>
                          <a:latin typeface="Calibri"/>
                        </a:defRPr>
                      </a:pPr>
                      <a:r>
                        <a:t>XXI век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22B2E"/>
                          </a:solidFill>
                          <a:latin typeface="Calibri"/>
                        </a:defRPr>
                      </a:pPr>
                      <a:r>
                        <a:t>Современный менеджмент: гибкость, инновации, управление знаниями в цифровой экономике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B4F5C"/>
                </a:solidFill>
                <a:latin typeface="Calibri"/>
              </a:defRPr>
            </a:pPr>
            <a:r>
              <a:t>Источник: Чуйкин А.М. Основы менеджмента. Калининград, 1996, с. 6-10; Лекция «Введение в менеджмент»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3"/>
                </a:solidFill>
                <a:latin typeface="Calibri"/>
              </a:defRPr>
            </a:pPr>
            <a:r>
              <a:t>RUFLO УРОК · Основы менеджмента · Тема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6063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9A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F3F4"/>
                </a:solidFill>
                <a:latin typeface="Calibri"/>
              </a:defRPr>
            </a:pPr>
            <a:r>
              <a:t>Практика</a:t>
            </a:r>
          </a:p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Почему тема актуальна сегодня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Для современной экономики характерно функционирование крупнейших организаций (транснациональных корпораций), сопоставимых по обороту с целыми государствами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Сформировался огромный корпус профессионалов-управленцев — управленческая деятельность выделилась как самостоятельная профессия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Квалификация менеджеров и уровень управления в решающей степени определяют конкурентоспособность организации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74920"/>
            <a:ext cx="11064240" cy="822960"/>
          </a:xfrm>
          <a:prstGeom prst="roundRect">
            <a:avLst/>
          </a:prstGeom>
          <a:solidFill>
            <a:srgbClr val="E6F3F4"/>
          </a:solidFill>
          <a:ln w="12700">
            <a:solidFill>
              <a:srgbClr val="14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i="1">
                <a:solidFill>
                  <a:srgbClr val="0B4F5C"/>
                </a:solidFill>
                <a:latin typeface="Calibri"/>
              </a:defRPr>
            </a:pPr>
            <a:r>
              <a:t>Вывод: рост роли менеджмента напрямую связан с усложнением и укрупнением современных организаций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B4F5C"/>
                </a:solidFill>
                <a:latin typeface="Calibri"/>
              </a:defRPr>
            </a:pPr>
            <a:r>
              <a:t>Источник: Чуйкин А.М. Основы менеджмента. Калининград, 1996, с. 7-9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3"/>
                </a:solidFill>
                <a:latin typeface="Calibri"/>
              </a:defRPr>
            </a:pPr>
            <a:r>
              <a:t>RUFLO УРОК · Основы менеджмента · Тема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6063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9A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F3F4"/>
                </a:solidFill>
                <a:latin typeface="Calibri"/>
              </a:defRPr>
            </a:pPr>
            <a:r>
              <a:t>Итоги темы</a:t>
            </a:r>
          </a:p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Менеджмент — не синоним «управления», а его особый вид: персонифицированное управление в открытой рыночной экономике, осуществляемое профессионалами-менеджерами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Организации и необходимость ими управлять существуют с древности — от государства и армии до современных предприятий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Современный менеджмент как наука сформировался на рубеже XIX-XX вв. (Ф. Тейлор, А. Файоль) и прошёл путь от классической школы к системной и цифровой</a:t>
            </a:r>
          </a:p>
          <a:p>
            <a:pPr>
              <a:spcAft>
                <a:spcPts val="1000"/>
              </a:spcAft>
              <a:defRPr sz="2200">
                <a:solidFill>
                  <a:srgbClr val="222B2E"/>
                </a:solidFill>
                <a:latin typeface="Calibri"/>
              </a:defRPr>
            </a:pPr>
            <a:r>
              <a:t>•  Понимание истоков и сущности менеджмента — основа для изучения всех последующих тем курса (функции, уровни управления, школы менеджмента)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B4F5C"/>
                </a:solidFill>
                <a:latin typeface="Calibri"/>
              </a:defRPr>
            </a:pPr>
            <a:r>
              <a:t>Источник: Чуйкин А.М. Основы менеджмента. Калининград, 1996, Раздел I, п.1.1-1.2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3"/>
                </a:solidFill>
                <a:latin typeface="Calibri"/>
              </a:defRPr>
            </a:pPr>
            <a:r>
              <a:t>RUFLO УРОК · Основы менеджмента · Тема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6063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9A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F3F4"/>
                </a:solidFill>
                <a:latin typeface="Calibri"/>
              </a:defRPr>
            </a:pPr>
            <a:r>
              <a:t>Проверьте себя</a:t>
            </a:r>
          </a:p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Вопросы для самопроверки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22B2E"/>
                </a:solidFill>
                <a:latin typeface="Calibri"/>
              </a:defRPr>
            </a:pPr>
            <a:r>
              <a:t>1. В чём разница между понятиями «управление» и «менеджмент»?</a:t>
            </a:r>
          </a:p>
          <a:p>
            <a:pPr>
              <a:spcAft>
                <a:spcPts val="1600"/>
              </a:spcAft>
              <a:defRPr sz="2100">
                <a:solidFill>
                  <a:srgbClr val="222B2E"/>
                </a:solidFill>
                <a:latin typeface="Calibri"/>
              </a:defRPr>
            </a:pPr>
            <a:r>
              <a:t>2. Какие виды организаций существовали в древности и почему они нуждались в управлении?</a:t>
            </a:r>
          </a:p>
          <a:p>
            <a:pPr>
              <a:spcAft>
                <a:spcPts val="1600"/>
              </a:spcAft>
              <a:defRPr sz="2100">
                <a:solidFill>
                  <a:srgbClr val="222B2E"/>
                </a:solidFill>
                <a:latin typeface="Calibri"/>
              </a:defRPr>
            </a:pPr>
            <a:r>
              <a:t>3. Назовите 2-3 исторические фигуры, внёсшие вклад в становление управленческой мысли до XX века.</a:t>
            </a:r>
          </a:p>
          <a:p>
            <a:pPr>
              <a:spcAft>
                <a:spcPts val="1600"/>
              </a:spcAft>
              <a:defRPr sz="2100">
                <a:solidFill>
                  <a:srgbClr val="222B2E"/>
                </a:solidFill>
                <a:latin typeface="Calibri"/>
              </a:defRPr>
            </a:pPr>
            <a:r>
              <a:t>4. С чьим именем связано появление термина «научный менеджмент» и в каком веке это произошло?</a:t>
            </a:r>
          </a:p>
          <a:p>
            <a:pPr>
              <a:spcAft>
                <a:spcPts val="1600"/>
              </a:spcAft>
              <a:defRPr sz="2100">
                <a:solidFill>
                  <a:srgbClr val="222B2E"/>
                </a:solidFill>
                <a:latin typeface="Calibri"/>
              </a:defRPr>
            </a:pPr>
            <a:r>
              <a:t>5. Почему уровень менеджмента сегодня называют решающим фактором конкурентоспособности организации?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B4F5C"/>
                </a:solidFill>
                <a:latin typeface="Calibri"/>
              </a:defRPr>
            </a:pPr>
            <a:r>
              <a:t>Источник: Чуйкин А.М. Основы менеджмента. Калининград, 1996, Раздел I, п.1.1-1.2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3"/>
                </a:solidFill>
                <a:latin typeface="Calibri"/>
              </a:defRPr>
            </a:pPr>
            <a:r>
              <a:t>RUFLO УРОК · Основы менеджмента · Тема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6063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9A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F3F4"/>
                </a:solidFill>
                <a:latin typeface="Calibri"/>
              </a:defRPr>
            </a:pPr>
            <a:r>
              <a:t>Источники тема 1</a:t>
            </a:r>
          </a:p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Литература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B2E"/>
                </a:solidFill>
                <a:latin typeface="Calibri"/>
              </a:defRPr>
            </a:pPr>
            <a:r>
              <a:t>Чуйкин А.М. Основы менеджмента: Учебное пособие. — Калининград: Калинингр. ун-т, 1996. — 106 с. — ISBN 5-230-08823-0. Раздел I, п.1.1-1.2, с. 6-17.</a:t>
            </a:r>
          </a:p>
          <a:p>
            <a:pPr>
              <a:spcAft>
                <a:spcPts val="1200"/>
              </a:spcAft>
              <a:defRPr sz="1800">
                <a:solidFill>
                  <a:srgbClr val="222B2E"/>
                </a:solidFill>
                <a:latin typeface="Calibri"/>
              </a:defRPr>
            </a:pPr>
            <a:r>
              <a:t>Мескон М., Альберт М., Хедоури Ф. Основы менеджмента. — М.: ИНФРА-М, 2019.</a:t>
            </a:r>
          </a:p>
          <a:p>
            <a:pPr>
              <a:spcAft>
                <a:spcPts val="1200"/>
              </a:spcAft>
              <a:defRPr sz="1800">
                <a:solidFill>
                  <a:srgbClr val="222B2E"/>
                </a:solidFill>
                <a:latin typeface="Calibri"/>
              </a:defRPr>
            </a:pPr>
            <a:r>
              <a:t>Павлова И.О. Основы менеджмента. — 2021 (указана в силлабусе как основная литература курса).</a:t>
            </a:r>
          </a:p>
          <a:p>
            <a:pPr>
              <a:spcAft>
                <a:spcPts val="1200"/>
              </a:spcAft>
              <a:defRPr sz="1800">
                <a:solidFill>
                  <a:srgbClr val="222B2E"/>
                </a:solidFill>
                <a:latin typeface="Calibri"/>
              </a:defRPr>
            </a:pPr>
            <a:r>
              <a:t>Силлабус дисциплины «Основы менеджмента», МКУ, 2025-2026 уч. год — тематический план, цели и задачи дисциплины.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3"/>
                </a:solidFill>
                <a:latin typeface="Calibri"/>
              </a:defRPr>
            </a:pPr>
            <a:r>
              <a:t>RUFLO УРОК · Основы менеджмента · Тема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6063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